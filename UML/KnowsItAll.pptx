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Marcellus" panose="020E0602050203020307" pitchFamily="34" charset="0"/>
      <p:regular r:id="rId15"/>
    </p:embeddedFont>
    <p:embeddedFont>
      <p:font typeface="Montserrat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83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51083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KnowsItAll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793790" y="4138970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Decentralized Peer-to-Peer Knowledge Economy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688919"/>
            <a:ext cx="75564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of Computer Applications (MCA) </a:t>
            </a:r>
            <a:b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· Presented by: Kunal Gangani [25]	</a:t>
            </a:r>
            <a:b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                  Mahesh </a:t>
            </a:r>
            <a:r>
              <a:rPr lang="en-US" sz="1750" dirty="0" err="1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Mathpati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[28]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007" y="1218248"/>
            <a:ext cx="5167193" cy="671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Knowledge Gap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9007" y="2245995"/>
            <a:ext cx="2583537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9007" y="2724269"/>
            <a:ext cx="3723799" cy="1047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learning is </a:t>
            </a: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costly, centralized, and disconnected</a:t>
            </a: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from local talent. Skilled individuals in your neighborhood remain invisible — their expertise locked behind no platform, no visibility, no trust.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98814" y="2263735"/>
            <a:ext cx="3723799" cy="1503998"/>
          </a:xfrm>
          <a:prstGeom prst="roundRect">
            <a:avLst>
              <a:gd name="adj" fmla="val 5019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93719" y="2458641"/>
            <a:ext cx="2583537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 Cost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993719" y="2944535"/>
            <a:ext cx="3333988" cy="628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 courses &amp; tutors demand premium pricing most learners can't sustain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98814" y="3910132"/>
            <a:ext cx="3723799" cy="1294567"/>
          </a:xfrm>
          <a:prstGeom prst="roundRect">
            <a:avLst>
              <a:gd name="adj" fmla="val 5831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93719" y="4105037"/>
            <a:ext cx="2583537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Hidden Talent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93719" y="4590931"/>
            <a:ext cx="3333988" cy="418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experts are unorganized, undiscoverable, and underutilized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98814" y="5347097"/>
            <a:ext cx="3723799" cy="1503998"/>
          </a:xfrm>
          <a:prstGeom prst="roundRect">
            <a:avLst>
              <a:gd name="adj" fmla="val 5019"/>
            </a:avLst>
          </a:prstGeom>
          <a:solidFill>
            <a:srgbClr val="FFFFF4"/>
          </a:solidFill>
          <a:ln w="15240">
            <a:solidFill>
              <a:srgbClr val="FFE0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3719" y="5542002"/>
            <a:ext cx="2583537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Zero Trust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93719" y="6027896"/>
            <a:ext cx="3333988" cy="628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verifiable mechanism to validate peer credentials or past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027"/>
            <a:ext cx="6722626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Introducing KnowsItAll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040380"/>
            <a:ext cx="1304282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unified mobile ecosystem that connects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skill-seekers with local skill-givers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within a 5km radius — through transparent barter and token-based exchange.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88512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2224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Localized Discovery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93790" y="5182195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GPS-powered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Radar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surfaces nearby experts in real time within a geofenced radius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88512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622244"/>
            <a:ext cx="4158615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Hybrid Barter / Token Economy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5235893" y="5606058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Trade skills directly or use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SkillTokens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dual-mode value exchange built for equity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885128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62224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Verifiable Trust</a:t>
            </a:r>
            <a:endParaRPr lang="en-US" sz="2550" dirty="0"/>
          </a:p>
        </p:txBody>
      </p:sp>
      <p:sp>
        <p:nvSpPr>
          <p:cNvPr id="12" name="Text 7"/>
          <p:cNvSpPr/>
          <p:nvPr/>
        </p:nvSpPr>
        <p:spPr>
          <a:xfrm>
            <a:off x="9677995" y="5182195"/>
            <a:ext cx="4158615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transaction cryptographically sealed via the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Ledger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immutable, auditable, tamper-proof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3C24CB-62C3-C028-E90E-8BAEA958C2BA}"/>
              </a:ext>
            </a:extLst>
          </p:cNvPr>
          <p:cNvSpPr/>
          <p:nvPr/>
        </p:nvSpPr>
        <p:spPr>
          <a:xfrm>
            <a:off x="12734693" y="7616283"/>
            <a:ext cx="1895707" cy="589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831" y="530708"/>
            <a:ext cx="3838099" cy="498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Objectives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1" y="1628078"/>
            <a:ext cx="5873472" cy="4326682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E512C34-A1AC-B742-019D-6F3FF4F01C34}"/>
              </a:ext>
            </a:extLst>
          </p:cNvPr>
          <p:cNvGrpSpPr/>
          <p:nvPr/>
        </p:nvGrpSpPr>
        <p:grpSpPr>
          <a:xfrm>
            <a:off x="7315199" y="1322024"/>
            <a:ext cx="6646127" cy="5825908"/>
            <a:chOff x="8915995" y="2228255"/>
            <a:chExt cx="3012400" cy="438971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B2CEF49-0022-C9D1-BB47-F878C0A35597}"/>
                </a:ext>
              </a:extLst>
            </p:cNvPr>
            <p:cNvGrpSpPr/>
            <p:nvPr/>
          </p:nvGrpSpPr>
          <p:grpSpPr>
            <a:xfrm>
              <a:off x="8915995" y="2228255"/>
              <a:ext cx="3012400" cy="1038582"/>
              <a:chOff x="8915995" y="2228255"/>
              <a:chExt cx="3012400" cy="1038582"/>
            </a:xfrm>
          </p:grpSpPr>
          <p:sp>
            <p:nvSpPr>
              <p:cNvPr id="24" name="Shape 1"/>
              <p:cNvSpPr/>
              <p:nvPr/>
            </p:nvSpPr>
            <p:spPr>
              <a:xfrm>
                <a:off x="8915995" y="2228255"/>
                <a:ext cx="3012400" cy="1038582"/>
              </a:xfrm>
              <a:prstGeom prst="roundRect">
                <a:avLst>
                  <a:gd name="adj" fmla="val 5399"/>
                </a:avLst>
              </a:prstGeom>
              <a:solidFill>
                <a:srgbClr val="FFFFF4">
                  <a:alpha val="95000"/>
                </a:srgbClr>
              </a:solidFill>
              <a:ln w="15240">
                <a:solidFill>
                  <a:srgbClr val="FFE0CC"/>
                </a:solidFill>
                <a:prstDash val="solid"/>
              </a:ln>
            </p:spPr>
          </p:sp>
          <p:sp>
            <p:nvSpPr>
              <p:cNvPr id="25" name="Shape 2"/>
              <p:cNvSpPr/>
              <p:nvPr/>
            </p:nvSpPr>
            <p:spPr>
              <a:xfrm>
                <a:off x="8931235" y="2243495"/>
                <a:ext cx="533995" cy="1008102"/>
              </a:xfrm>
              <a:prstGeom prst="roundRect">
                <a:avLst>
                  <a:gd name="adj" fmla="val 7075"/>
                </a:avLst>
              </a:prstGeom>
              <a:solidFill>
                <a:srgbClr val="FFFFF4"/>
              </a:solidFill>
              <a:ln/>
            </p:spPr>
          </p:sp>
          <p:sp>
            <p:nvSpPr>
              <p:cNvPr id="26" name="Text 3"/>
              <p:cNvSpPr/>
              <p:nvPr/>
            </p:nvSpPr>
            <p:spPr>
              <a:xfrm>
                <a:off x="9090541" y="2617351"/>
                <a:ext cx="200144" cy="26027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50"/>
                  </a:lnSpc>
                  <a:buNone/>
                </a:pPr>
                <a:r>
                  <a:rPr lang="en-US" sz="1550" dirty="0">
                    <a:solidFill>
                      <a:srgbClr val="67534F"/>
                    </a:solidFill>
                    <a:latin typeface="Marcellus" pitchFamily="34" charset="0"/>
                    <a:ea typeface="Marcellus" pitchFamily="34" charset="-122"/>
                    <a:cs typeface="Marcellus" pitchFamily="34" charset="-120"/>
                  </a:rPr>
                  <a:t>1</a:t>
                </a:r>
                <a:endParaRPr lang="en-US" sz="1550" dirty="0"/>
              </a:p>
            </p:txBody>
          </p:sp>
          <p:sp>
            <p:nvSpPr>
              <p:cNvPr id="27" name="Text 4"/>
              <p:cNvSpPr/>
              <p:nvPr/>
            </p:nvSpPr>
            <p:spPr>
              <a:xfrm>
                <a:off x="9543693" y="2376964"/>
                <a:ext cx="2199680" cy="24943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500" dirty="0">
                    <a:solidFill>
                      <a:srgbClr val="67534F"/>
                    </a:solidFill>
                    <a:latin typeface="Marcellus" pitchFamily="34" charset="0"/>
                    <a:ea typeface="Marcellus" pitchFamily="34" charset="-122"/>
                    <a:cs typeface="Marcellus" pitchFamily="34" charset="-120"/>
                  </a:rPr>
                  <a:t>Hyper-Local Connectivity</a:t>
                </a:r>
                <a:endParaRPr lang="en-US" sz="1500" dirty="0"/>
              </a:p>
            </p:txBody>
          </p:sp>
          <p:sp>
            <p:nvSpPr>
              <p:cNvPr id="28" name="Text 5"/>
              <p:cNvSpPr/>
              <p:nvPr/>
            </p:nvSpPr>
            <p:spPr>
              <a:xfrm>
                <a:off x="9543693" y="2704862"/>
                <a:ext cx="2235994" cy="4132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050"/>
                  </a:lnSpc>
                  <a:buNone/>
                </a:pPr>
                <a:r>
                  <a:rPr lang="en-US" sz="1050" dirty="0">
                    <a:solidFill>
                      <a:srgbClr val="67534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Geospatial discovery within a precise </a:t>
                </a:r>
                <a:r>
                  <a:rPr lang="en-US" sz="1050" b="1" dirty="0">
                    <a:solidFill>
                      <a:srgbClr val="67534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5km Radius</a:t>
                </a:r>
                <a:r>
                  <a:rPr lang="en-US" sz="1050" dirty="0">
                    <a:solidFill>
                      <a:srgbClr val="67534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 using GPS clustering</a:t>
                </a:r>
                <a:endParaRPr lang="en-US" sz="1050" dirty="0"/>
              </a:p>
            </p:txBody>
          </p:sp>
        </p:grpSp>
        <p:sp>
          <p:nvSpPr>
            <p:cNvPr id="29" name="Shape 6"/>
            <p:cNvSpPr/>
            <p:nvPr/>
          </p:nvSpPr>
          <p:spPr>
            <a:xfrm>
              <a:off x="8915995" y="3345299"/>
              <a:ext cx="3012400" cy="1038582"/>
            </a:xfrm>
            <a:prstGeom prst="roundRect">
              <a:avLst>
                <a:gd name="adj" fmla="val 5399"/>
              </a:avLst>
            </a:prstGeom>
            <a:solidFill>
              <a:srgbClr val="FFFFF4">
                <a:alpha val="95000"/>
              </a:srgbClr>
            </a:solidFill>
            <a:ln w="15240">
              <a:solidFill>
                <a:srgbClr val="FFE0CC"/>
              </a:solidFill>
              <a:prstDash val="solid"/>
            </a:ln>
          </p:spPr>
        </p:sp>
        <p:sp>
          <p:nvSpPr>
            <p:cNvPr id="30" name="Shape 7"/>
            <p:cNvSpPr/>
            <p:nvPr/>
          </p:nvSpPr>
          <p:spPr>
            <a:xfrm>
              <a:off x="8931235" y="3360539"/>
              <a:ext cx="533995" cy="1008102"/>
            </a:xfrm>
            <a:prstGeom prst="roundRect">
              <a:avLst>
                <a:gd name="adj" fmla="val 7075"/>
              </a:avLst>
            </a:prstGeom>
            <a:solidFill>
              <a:srgbClr val="FFFFF4"/>
            </a:solidFill>
            <a:ln/>
          </p:spPr>
        </p:sp>
        <p:sp>
          <p:nvSpPr>
            <p:cNvPr id="31" name="Text 8"/>
            <p:cNvSpPr/>
            <p:nvPr/>
          </p:nvSpPr>
          <p:spPr>
            <a:xfrm>
              <a:off x="9090541" y="3734395"/>
              <a:ext cx="200144" cy="2602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55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2</a:t>
              </a:r>
              <a:endParaRPr lang="en-US" sz="1550" dirty="0"/>
            </a:p>
          </p:txBody>
        </p:sp>
        <p:sp>
          <p:nvSpPr>
            <p:cNvPr id="32" name="Text 9"/>
            <p:cNvSpPr/>
            <p:nvPr/>
          </p:nvSpPr>
          <p:spPr>
            <a:xfrm>
              <a:off x="9543693" y="3494008"/>
              <a:ext cx="1919049" cy="2494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Dual-Mode Trade</a:t>
              </a:r>
              <a:endParaRPr lang="en-US" sz="1500" dirty="0"/>
            </a:p>
          </p:txBody>
        </p:sp>
        <p:sp>
          <p:nvSpPr>
            <p:cNvPr id="33" name="Text 10"/>
            <p:cNvSpPr/>
            <p:nvPr/>
          </p:nvSpPr>
          <p:spPr>
            <a:xfrm>
              <a:off x="9543693" y="3821906"/>
              <a:ext cx="2235994" cy="4132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050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Flexible value exchange: direct skill barter or </a:t>
              </a:r>
              <a:r>
                <a:rPr lang="en-US" sz="1050" b="1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SkillToken</a:t>
              </a:r>
              <a:r>
                <a:rPr lang="en-US" sz="1050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transactions</a:t>
              </a:r>
              <a:endParaRPr lang="en-US" sz="1050" dirty="0"/>
            </a:p>
          </p:txBody>
        </p:sp>
        <p:sp>
          <p:nvSpPr>
            <p:cNvPr id="34" name="Shape 11"/>
            <p:cNvSpPr/>
            <p:nvPr/>
          </p:nvSpPr>
          <p:spPr>
            <a:xfrm>
              <a:off x="8915995" y="4462343"/>
              <a:ext cx="3012400" cy="1038582"/>
            </a:xfrm>
            <a:prstGeom prst="roundRect">
              <a:avLst>
                <a:gd name="adj" fmla="val 5399"/>
              </a:avLst>
            </a:prstGeom>
            <a:solidFill>
              <a:srgbClr val="FFFFF4">
                <a:alpha val="95000"/>
              </a:srgbClr>
            </a:solidFill>
            <a:ln w="15240">
              <a:solidFill>
                <a:srgbClr val="FFE0CC"/>
              </a:solidFill>
              <a:prstDash val="solid"/>
            </a:ln>
          </p:spPr>
        </p:sp>
        <p:sp>
          <p:nvSpPr>
            <p:cNvPr id="35" name="Shape 12"/>
            <p:cNvSpPr/>
            <p:nvPr/>
          </p:nvSpPr>
          <p:spPr>
            <a:xfrm>
              <a:off x="8931235" y="4477583"/>
              <a:ext cx="533995" cy="1008102"/>
            </a:xfrm>
            <a:prstGeom prst="roundRect">
              <a:avLst>
                <a:gd name="adj" fmla="val 7075"/>
              </a:avLst>
            </a:prstGeom>
            <a:solidFill>
              <a:srgbClr val="FFFFF4"/>
            </a:solidFill>
            <a:ln/>
          </p:spPr>
        </p:sp>
        <p:sp>
          <p:nvSpPr>
            <p:cNvPr id="36" name="Text 13"/>
            <p:cNvSpPr/>
            <p:nvPr/>
          </p:nvSpPr>
          <p:spPr>
            <a:xfrm>
              <a:off x="9090541" y="4851440"/>
              <a:ext cx="200144" cy="2602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55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3</a:t>
              </a:r>
              <a:endParaRPr lang="en-US" sz="1550" dirty="0"/>
            </a:p>
          </p:txBody>
        </p:sp>
        <p:sp>
          <p:nvSpPr>
            <p:cNvPr id="37" name="Text 14"/>
            <p:cNvSpPr/>
            <p:nvPr/>
          </p:nvSpPr>
          <p:spPr>
            <a:xfrm>
              <a:off x="9543693" y="4611053"/>
              <a:ext cx="1946553" cy="2494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Immutable Reputation</a:t>
              </a:r>
              <a:endParaRPr lang="en-US" sz="1500" dirty="0"/>
            </a:p>
          </p:txBody>
        </p:sp>
        <p:sp>
          <p:nvSpPr>
            <p:cNvPr id="38" name="Text 15"/>
            <p:cNvSpPr/>
            <p:nvPr/>
          </p:nvSpPr>
          <p:spPr>
            <a:xfrm>
              <a:off x="9543693" y="4938951"/>
              <a:ext cx="2235994" cy="4132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050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Cryptographic hashing via </a:t>
              </a:r>
              <a:r>
                <a:rPr lang="en-US" sz="1050" b="1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SHA-256</a:t>
              </a:r>
              <a:r>
                <a:rPr lang="en-US" sz="1050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ensures tamper-proof ledger entries</a:t>
              </a:r>
              <a:endParaRPr lang="en-US" sz="1050" dirty="0"/>
            </a:p>
          </p:txBody>
        </p:sp>
        <p:sp>
          <p:nvSpPr>
            <p:cNvPr id="39" name="Shape 16"/>
            <p:cNvSpPr/>
            <p:nvPr/>
          </p:nvSpPr>
          <p:spPr>
            <a:xfrm>
              <a:off x="8915995" y="5579388"/>
              <a:ext cx="3012400" cy="1038582"/>
            </a:xfrm>
            <a:prstGeom prst="roundRect">
              <a:avLst>
                <a:gd name="adj" fmla="val 5399"/>
              </a:avLst>
            </a:prstGeom>
            <a:solidFill>
              <a:srgbClr val="FFFFF4">
                <a:alpha val="95000"/>
              </a:srgbClr>
            </a:solidFill>
            <a:ln w="15240">
              <a:solidFill>
                <a:srgbClr val="FFE0CC"/>
              </a:solidFill>
              <a:prstDash val="solid"/>
            </a:ln>
          </p:spPr>
        </p:sp>
        <p:sp>
          <p:nvSpPr>
            <p:cNvPr id="40" name="Shape 17"/>
            <p:cNvSpPr/>
            <p:nvPr/>
          </p:nvSpPr>
          <p:spPr>
            <a:xfrm>
              <a:off x="8931235" y="5594628"/>
              <a:ext cx="533995" cy="1008102"/>
            </a:xfrm>
            <a:prstGeom prst="roundRect">
              <a:avLst>
                <a:gd name="adj" fmla="val 7075"/>
              </a:avLst>
            </a:prstGeom>
            <a:solidFill>
              <a:srgbClr val="FFFFF4"/>
            </a:solidFill>
            <a:ln/>
          </p:spPr>
        </p:sp>
        <p:sp>
          <p:nvSpPr>
            <p:cNvPr id="41" name="Text 18"/>
            <p:cNvSpPr/>
            <p:nvPr/>
          </p:nvSpPr>
          <p:spPr>
            <a:xfrm>
              <a:off x="9090541" y="5968484"/>
              <a:ext cx="200144" cy="2602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155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4</a:t>
              </a:r>
              <a:endParaRPr lang="en-US" sz="1550" dirty="0"/>
            </a:p>
          </p:txBody>
        </p:sp>
        <p:sp>
          <p:nvSpPr>
            <p:cNvPr id="42" name="Text 19"/>
            <p:cNvSpPr/>
            <p:nvPr/>
          </p:nvSpPr>
          <p:spPr>
            <a:xfrm>
              <a:off x="9543693" y="5728097"/>
              <a:ext cx="1919049" cy="2494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500" dirty="0">
                  <a:solidFill>
                    <a:srgbClr val="67534F"/>
                  </a:solidFill>
                  <a:latin typeface="Marcellus" pitchFamily="34" charset="0"/>
                  <a:ea typeface="Marcellus" pitchFamily="34" charset="-122"/>
                  <a:cs typeface="Marcellus" pitchFamily="34" charset="-120"/>
                </a:rPr>
                <a:t>Verified Skill Passports</a:t>
              </a:r>
              <a:endParaRPr lang="en-US" sz="1500" dirty="0"/>
            </a:p>
          </p:txBody>
        </p:sp>
        <p:sp>
          <p:nvSpPr>
            <p:cNvPr id="43" name="Text 20"/>
            <p:cNvSpPr/>
            <p:nvPr/>
          </p:nvSpPr>
          <p:spPr>
            <a:xfrm>
              <a:off x="9543693" y="6055995"/>
              <a:ext cx="2235994" cy="4132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1050" dirty="0">
                  <a:solidFill>
                    <a:srgbClr val="6753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User-owned credentials validated through community attestation and transaction history</a:t>
              </a:r>
              <a:endParaRPr lang="en-US" sz="1050" dirty="0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E1CC8D8-EFAA-22AC-6350-62B859F60B48}"/>
              </a:ext>
            </a:extLst>
          </p:cNvPr>
          <p:cNvSpPr/>
          <p:nvPr/>
        </p:nvSpPr>
        <p:spPr>
          <a:xfrm>
            <a:off x="12756995" y="7727795"/>
            <a:ext cx="1795346" cy="501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807006"/>
            <a:ext cx="5958483" cy="774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Technical Stack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25329" y="1960364"/>
            <a:ext cx="131797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a modern, production-grade architecture optimized for mobile-first performance and cryptographic integrity.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5329" y="2431137"/>
            <a:ext cx="6495217" cy="2401014"/>
          </a:xfrm>
          <a:prstGeom prst="roundRect">
            <a:avLst>
              <a:gd name="adj" fmla="val 362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5358" y="2661166"/>
            <a:ext cx="621744" cy="621744"/>
          </a:xfrm>
          <a:prstGeom prst="roundRect">
            <a:avLst>
              <a:gd name="adj" fmla="val 14705547"/>
            </a:avLst>
          </a:prstGeom>
          <a:solidFill>
            <a:srgbClr val="FF954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6331" y="2832140"/>
            <a:ext cx="279678" cy="279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5358" y="3472220"/>
            <a:ext cx="2979182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955358" y="3972997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· Jetpack Compose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5358" y="4344353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Declarative UI with reactive state management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09855" y="2431137"/>
            <a:ext cx="6495217" cy="2401014"/>
          </a:xfrm>
          <a:prstGeom prst="roundRect">
            <a:avLst>
              <a:gd name="adj" fmla="val 362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9883" y="2661166"/>
            <a:ext cx="621744" cy="621744"/>
          </a:xfrm>
          <a:prstGeom prst="roundRect">
            <a:avLst>
              <a:gd name="adj" fmla="val 14705547"/>
            </a:avLst>
          </a:prstGeom>
          <a:solidFill>
            <a:srgbClr val="FF954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857" y="2832140"/>
            <a:ext cx="279678" cy="2796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9883" y="3472220"/>
            <a:ext cx="2979182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7639883" y="3972997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· Spring Boot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39883" y="4344353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RESTful APIs with layered service architecture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25329" y="5021461"/>
            <a:ext cx="6495217" cy="2401014"/>
          </a:xfrm>
          <a:prstGeom prst="roundRect">
            <a:avLst>
              <a:gd name="adj" fmla="val 362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5358" y="5251490"/>
            <a:ext cx="621744" cy="621744"/>
          </a:xfrm>
          <a:prstGeom prst="roundRect">
            <a:avLst>
              <a:gd name="adj" fmla="val 14705547"/>
            </a:avLst>
          </a:prstGeom>
          <a:solidFill>
            <a:srgbClr val="FF954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6331" y="5422463"/>
            <a:ext cx="279678" cy="2796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5358" y="6062543"/>
            <a:ext cx="2979182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955358" y="6563320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(Cloud) · Room DB (Local)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55358" y="6934676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Dual-layer persistence for offline resilience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409855" y="5021461"/>
            <a:ext cx="6495217" cy="2401014"/>
          </a:xfrm>
          <a:prstGeom prst="roundRect">
            <a:avLst>
              <a:gd name="adj" fmla="val 3625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639883" y="5251490"/>
            <a:ext cx="621744" cy="621744"/>
          </a:xfrm>
          <a:prstGeom prst="roundRect">
            <a:avLst>
              <a:gd name="adj" fmla="val 14705547"/>
            </a:avLst>
          </a:prstGeom>
          <a:solidFill>
            <a:srgbClr val="FF954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0857" y="5422463"/>
            <a:ext cx="279678" cy="27967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39883" y="6062543"/>
            <a:ext cx="2979182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Security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7639883" y="6563320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Auth · SHA-256 Hashing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639883" y="6934676"/>
            <a:ext cx="6035159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Stateless sessions with cryptographic integrity</a:t>
            </a: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944A6D4-F52A-481F-A463-D647DB35F53F}"/>
              </a:ext>
            </a:extLst>
          </p:cNvPr>
          <p:cNvSpPr/>
          <p:nvPr/>
        </p:nvSpPr>
        <p:spPr>
          <a:xfrm>
            <a:off x="12745844" y="7616283"/>
            <a:ext cx="1884556" cy="613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1877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Features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09657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Skill Radar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3747254"/>
            <a:ext cx="6244709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GPS-based discovery engine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that renders a live map of nearby skill-providers. Users broadcast availability with category tags, session slots, and rating badges — all rendered within the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5km Radius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geofence.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04941" y="5425321"/>
            <a:ext cx="6244709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geospatial clustering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filters &amp; availability windows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Distance-sorted ranked results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09657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 Ledger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599521" y="3747254"/>
            <a:ext cx="6244709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completed session generates a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cryptographic transaction record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hashed via </a:t>
            </a:r>
            <a:r>
              <a:rPr lang="en-US" sz="17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appended to a linear, append-only ledger — mimicking blockchain immutability without full decentralization overhead.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425321"/>
            <a:ext cx="6244709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QR + Video handshake proof-of-completion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Hash-chained immutable entries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Auditable reputation timeline per user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3B6C67-B6CB-6582-C0F4-91ACDF555B19}"/>
              </a:ext>
            </a:extLst>
          </p:cNvPr>
          <p:cNvSpPr/>
          <p:nvPr/>
        </p:nvSpPr>
        <p:spPr>
          <a:xfrm>
            <a:off x="12768146" y="7660888"/>
            <a:ext cx="1761893" cy="5687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8536" y="475178"/>
            <a:ext cx="4747141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536" y="1332667"/>
            <a:ext cx="11393329" cy="5915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0852" y="3338364"/>
            <a:ext cx="1405938" cy="189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Three-Layer System Architecture</a:t>
            </a:r>
            <a:endParaRPr lang="en-US" sz="2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4897" y="2901469"/>
            <a:ext cx="286109" cy="2861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88146" y="2553499"/>
            <a:ext cx="2463204" cy="378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Mobile Client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888146" y="3021677"/>
            <a:ext cx="2463204" cy="65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+ Jetpack Compose; sends API requests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0278787" y="2553499"/>
            <a:ext cx="2463204" cy="75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Spring Boot Backend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10278787" y="3399874"/>
            <a:ext cx="2463204" cy="43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APIs, JWT auth, business logic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6794" y="2294103"/>
            <a:ext cx="286109" cy="286109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6265" y="5353426"/>
            <a:ext cx="286108" cy="2861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8146" y="5185416"/>
            <a:ext cx="2463204" cy="3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PostgreSQL Cloud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1888146" y="5653594"/>
            <a:ext cx="2463204" cy="43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database; cloud persistence and sync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0278787" y="5185416"/>
            <a:ext cx="2463204" cy="3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Room DB (Local)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10278787" y="5653594"/>
            <a:ext cx="2463204" cy="437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cache synced with cloud database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7982" y="6286969"/>
            <a:ext cx="286108" cy="2861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18536" y="7383542"/>
            <a:ext cx="11393329" cy="37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follows a </a:t>
            </a:r>
            <a:r>
              <a:rPr lang="en-US" sz="13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three-tier separation</a:t>
            </a: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the mobile client handles UI and local persistence via Room DB; the Spring Boot layer enforces business logic, authentication, and hashing; PostgreSQL serves as the cloud-authoritative data store.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8F3FE6-B069-21B3-9624-820221A2BD52}"/>
              </a:ext>
            </a:extLst>
          </p:cNvPr>
          <p:cNvSpPr/>
          <p:nvPr/>
        </p:nvSpPr>
        <p:spPr>
          <a:xfrm>
            <a:off x="12741991" y="7754303"/>
            <a:ext cx="1888409" cy="4752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911" y="579477"/>
            <a:ext cx="5586770" cy="704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Trust Ledger Workflow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13911" y="1596747"/>
            <a:ext cx="1300245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five-stage cryptographic pipeline ensures every skill exchange is verified, escrowed, and permanently recorded.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11" y="1997035"/>
            <a:ext cx="942142" cy="1130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12501" y="2185392"/>
            <a:ext cx="2708791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User Request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912501" y="2631281"/>
            <a:ext cx="119038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Seeker sends a session proposal to Provider via Skill Radar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11" y="3127653"/>
            <a:ext cx="942142" cy="11306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12501" y="3316010"/>
            <a:ext cx="2708791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Token Escrow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912501" y="3761899"/>
            <a:ext cx="119038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SkillTokens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are locked in escrow pending session completion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11" y="4258270"/>
            <a:ext cx="942142" cy="11306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12501" y="4446627"/>
            <a:ext cx="3043476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 QR / Video Handshake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912501" y="4892516"/>
            <a:ext cx="119038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parties confirm session via QR scan or video proof-of-presence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11" y="5388888"/>
            <a:ext cx="942142" cy="11306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12501" y="5577245"/>
            <a:ext cx="2708791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4. Hash Generation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912501" y="6023134"/>
            <a:ext cx="119038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 computed from session metadata and stored immutably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911" y="6519505"/>
            <a:ext cx="942142" cy="11306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12501" y="6707862"/>
            <a:ext cx="3021925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5. Payout &amp; Ledger Entry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1912501" y="7153751"/>
            <a:ext cx="1190386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Escrow released, reputation updated, ledger entry appended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42CEF-752E-0CA0-88C5-FED02866BE85}"/>
              </a:ext>
            </a:extLst>
          </p:cNvPr>
          <p:cNvSpPr/>
          <p:nvPr/>
        </p:nvSpPr>
        <p:spPr>
          <a:xfrm>
            <a:off x="12533971" y="7560527"/>
            <a:ext cx="2096429" cy="6690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2634" y="421838"/>
            <a:ext cx="4410432" cy="573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Schema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2022634" y="3379589"/>
            <a:ext cx="2205157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Entities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022634" y="3769876"/>
            <a:ext cx="5105400" cy="50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schema is designed around four primary entities with clear relational integrity, enabling efficient querying for geospatial, transactional, and reputational data.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748" y="1267420"/>
            <a:ext cx="5105400" cy="5105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748" y="1267420"/>
            <a:ext cx="5105400" cy="5105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22634" y="6606183"/>
            <a:ext cx="2568416" cy="1202293"/>
          </a:xfrm>
          <a:prstGeom prst="roundRect">
            <a:avLst>
              <a:gd name="adj" fmla="val 912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999774" y="6606183"/>
            <a:ext cx="91440" cy="1202293"/>
          </a:xfrm>
          <a:prstGeom prst="roundRect">
            <a:avLst>
              <a:gd name="adj" fmla="val 70462"/>
            </a:avLst>
          </a:prstGeom>
          <a:solidFill>
            <a:srgbClr val="FF954F"/>
          </a:solidFill>
          <a:ln/>
        </p:spPr>
      </p:sp>
      <p:sp>
        <p:nvSpPr>
          <p:cNvPr id="9" name="Text 5"/>
          <p:cNvSpPr/>
          <p:nvPr/>
        </p:nvSpPr>
        <p:spPr>
          <a:xfrm>
            <a:off x="2267426" y="6782395"/>
            <a:ext cx="2147411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267426" y="7131129"/>
            <a:ext cx="2147411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Profile, GPS location, token balance, skill passport hash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94753" y="6606183"/>
            <a:ext cx="2568535" cy="1202293"/>
          </a:xfrm>
          <a:prstGeom prst="roundRect">
            <a:avLst>
              <a:gd name="adj" fmla="val 912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71893" y="6606183"/>
            <a:ext cx="91440" cy="1202293"/>
          </a:xfrm>
          <a:prstGeom prst="roundRect">
            <a:avLst>
              <a:gd name="adj" fmla="val 70462"/>
            </a:avLst>
          </a:prstGeom>
          <a:solidFill>
            <a:srgbClr val="FF954F"/>
          </a:solidFill>
          <a:ln/>
        </p:spPr>
      </p:sp>
      <p:sp>
        <p:nvSpPr>
          <p:cNvPr id="13" name="Text 9"/>
          <p:cNvSpPr/>
          <p:nvPr/>
        </p:nvSpPr>
        <p:spPr>
          <a:xfrm>
            <a:off x="4939546" y="6782395"/>
            <a:ext cx="2147530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Skill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39546" y="7131129"/>
            <a:ext cx="2147530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Category, tags, provider FK, availability schedule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66992" y="6606183"/>
            <a:ext cx="2568416" cy="1202293"/>
          </a:xfrm>
          <a:prstGeom prst="roundRect">
            <a:avLst>
              <a:gd name="adj" fmla="val 912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44132" y="6606183"/>
            <a:ext cx="91440" cy="1202293"/>
          </a:xfrm>
          <a:prstGeom prst="roundRect">
            <a:avLst>
              <a:gd name="adj" fmla="val 70462"/>
            </a:avLst>
          </a:prstGeom>
          <a:solidFill>
            <a:srgbClr val="FF954F"/>
          </a:solidFill>
          <a:ln/>
        </p:spPr>
      </p:sp>
      <p:sp>
        <p:nvSpPr>
          <p:cNvPr id="17" name="Text 13"/>
          <p:cNvSpPr/>
          <p:nvPr/>
        </p:nvSpPr>
        <p:spPr>
          <a:xfrm>
            <a:off x="7611785" y="6782395"/>
            <a:ext cx="2147411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Swap_Transaction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611785" y="7131129"/>
            <a:ext cx="2147411" cy="50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metadata, escrow status, barter/token mode, completion flag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0039112" y="6606183"/>
            <a:ext cx="2568535" cy="1202293"/>
          </a:xfrm>
          <a:prstGeom prst="roundRect">
            <a:avLst>
              <a:gd name="adj" fmla="val 9127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16252" y="6606183"/>
            <a:ext cx="91440" cy="1202293"/>
          </a:xfrm>
          <a:prstGeom prst="roundRect">
            <a:avLst>
              <a:gd name="adj" fmla="val 70462"/>
            </a:avLst>
          </a:prstGeom>
          <a:solidFill>
            <a:srgbClr val="FF954F"/>
          </a:solidFill>
          <a:ln/>
        </p:spPr>
      </p:sp>
      <p:sp>
        <p:nvSpPr>
          <p:cNvPr id="21" name="Text 17"/>
          <p:cNvSpPr/>
          <p:nvPr/>
        </p:nvSpPr>
        <p:spPr>
          <a:xfrm>
            <a:off x="10283904" y="6782395"/>
            <a:ext cx="2147530" cy="28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Ledger_Entry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10283904" y="7131129"/>
            <a:ext cx="2147530" cy="50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FK, </a:t>
            </a: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hash, prev_hash, timestamp</a:t>
            </a:r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130CF1-C3EF-4F65-97EE-110EA2CEEC1F}"/>
              </a:ext>
            </a:extLst>
          </p:cNvPr>
          <p:cNvSpPr/>
          <p:nvPr/>
        </p:nvSpPr>
        <p:spPr>
          <a:xfrm>
            <a:off x="12768146" y="7632263"/>
            <a:ext cx="1862254" cy="597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5534" y="915233"/>
            <a:ext cx="6250900" cy="73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Drawbacks &amp; Limitations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175534" y="2202775"/>
            <a:ext cx="3797379" cy="2984897"/>
          </a:xfrm>
          <a:prstGeom prst="roundRect">
            <a:avLst>
              <a:gd name="adj" fmla="val 3676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175534" y="2179915"/>
            <a:ext cx="3797379" cy="91440"/>
          </a:xfrm>
          <a:prstGeom prst="roundRect">
            <a:avLst>
              <a:gd name="adj" fmla="val 90451"/>
            </a:avLst>
          </a:prstGeom>
          <a:solidFill>
            <a:srgbClr val="FF954F"/>
          </a:solidFill>
          <a:ln/>
        </p:spPr>
      </p:sp>
      <p:sp>
        <p:nvSpPr>
          <p:cNvPr id="6" name="Shape 3"/>
          <p:cNvSpPr/>
          <p:nvPr/>
        </p:nvSpPr>
        <p:spPr>
          <a:xfrm>
            <a:off x="7778889" y="1907500"/>
            <a:ext cx="590669" cy="590669"/>
          </a:xfrm>
          <a:prstGeom prst="roundRect">
            <a:avLst>
              <a:gd name="adj" fmla="val 154808"/>
            </a:avLst>
          </a:prstGeom>
          <a:solidFill>
            <a:srgbClr val="FF954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054" y="2084665"/>
            <a:ext cx="236220" cy="236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5204" y="2694980"/>
            <a:ext cx="3358039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GPS Accuracy Dependency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395204" y="3533537"/>
            <a:ext cx="3358039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Indoor environments, signal degradation, and rural dead zones can compromise geospatial discovery precision — affecting the core </a:t>
            </a:r>
            <a:r>
              <a:rPr lang="en-US" sz="15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5km Radius</a:t>
            </a: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experience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0143768" y="2202775"/>
            <a:ext cx="3797498" cy="2984897"/>
          </a:xfrm>
          <a:prstGeom prst="roundRect">
            <a:avLst>
              <a:gd name="adj" fmla="val 3676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10143768" y="2179915"/>
            <a:ext cx="3797498" cy="91440"/>
          </a:xfrm>
          <a:prstGeom prst="roundRect">
            <a:avLst>
              <a:gd name="adj" fmla="val 90451"/>
            </a:avLst>
          </a:prstGeom>
          <a:solidFill>
            <a:srgbClr val="FF954F"/>
          </a:solidFill>
          <a:ln/>
        </p:spPr>
      </p:sp>
      <p:sp>
        <p:nvSpPr>
          <p:cNvPr id="12" name="Shape 8"/>
          <p:cNvSpPr/>
          <p:nvPr/>
        </p:nvSpPr>
        <p:spPr>
          <a:xfrm>
            <a:off x="11747123" y="1907500"/>
            <a:ext cx="590669" cy="590669"/>
          </a:xfrm>
          <a:prstGeom prst="roundRect">
            <a:avLst>
              <a:gd name="adj" fmla="val 154808"/>
            </a:avLst>
          </a:prstGeom>
          <a:solidFill>
            <a:srgbClr val="FF954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24288" y="2084665"/>
            <a:ext cx="236220" cy="2362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63438" y="2694980"/>
            <a:ext cx="3358158" cy="73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User-Provided Data Accuracy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363438" y="3533537"/>
            <a:ext cx="3358158" cy="1434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self-declarations and session descriptions rely on user honesty. Without third-party credential verification, initial trust bootstrapping remains a challenge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175534" y="5653802"/>
            <a:ext cx="7765733" cy="1660565"/>
          </a:xfrm>
          <a:prstGeom prst="roundRect">
            <a:avLst>
              <a:gd name="adj" fmla="val 6608"/>
            </a:avLst>
          </a:prstGeom>
          <a:solidFill>
            <a:srgbClr val="FFFFF4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175534" y="5630942"/>
            <a:ext cx="7765733" cy="91440"/>
          </a:xfrm>
          <a:prstGeom prst="roundRect">
            <a:avLst>
              <a:gd name="adj" fmla="val 90451"/>
            </a:avLst>
          </a:prstGeom>
          <a:solidFill>
            <a:srgbClr val="FF954F"/>
          </a:solidFill>
          <a:ln/>
        </p:spPr>
      </p:sp>
      <p:sp>
        <p:nvSpPr>
          <p:cNvPr id="18" name="Shape 13"/>
          <p:cNvSpPr/>
          <p:nvPr/>
        </p:nvSpPr>
        <p:spPr>
          <a:xfrm>
            <a:off x="9763065" y="5358527"/>
            <a:ext cx="590669" cy="590669"/>
          </a:xfrm>
          <a:prstGeom prst="roundRect">
            <a:avLst>
              <a:gd name="adj" fmla="val 154808"/>
            </a:avLst>
          </a:prstGeom>
          <a:solidFill>
            <a:srgbClr val="FF954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40230" y="5535692"/>
            <a:ext cx="236220" cy="2362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95204" y="6146006"/>
            <a:ext cx="3113842" cy="368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Connectivity Constraints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6395204" y="6616541"/>
            <a:ext cx="7326392" cy="47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While Room DB enables offline caching, real-time ledger writes and escrow resolution require stable internet connectivity</a:t>
            </a:r>
            <a:endParaRPr lang="en-US" sz="15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B682B7-8CC0-6E56-68F5-AB90414FC7E2}"/>
              </a:ext>
            </a:extLst>
          </p:cNvPr>
          <p:cNvSpPr/>
          <p:nvPr/>
        </p:nvSpPr>
        <p:spPr>
          <a:xfrm>
            <a:off x="12779298" y="7672039"/>
            <a:ext cx="1851102" cy="5575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97850" y="771049"/>
            <a:ext cx="5347692" cy="695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Roadmap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97850" y="1694974"/>
            <a:ext cx="12834580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3-year vision transforms KnowsItAll into a hyper-intelligent, globally interconnected, and fully decentralized knowledge ecosystem.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303651" y="2086451"/>
            <a:ext cx="22860" cy="5371981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7" name="Shape 4"/>
          <p:cNvSpPr/>
          <p:nvPr/>
        </p:nvSpPr>
        <p:spPr>
          <a:xfrm>
            <a:off x="6570762" y="2284214"/>
            <a:ext cx="557927" cy="22860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8" name="Shape 5"/>
          <p:cNvSpPr/>
          <p:nvPr/>
        </p:nvSpPr>
        <p:spPr>
          <a:xfrm>
            <a:off x="7105829" y="2086451"/>
            <a:ext cx="418505" cy="418505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4644" y="2135207"/>
            <a:ext cx="320754" cy="3207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82697" y="2144554"/>
            <a:ext cx="2902387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AI-Driven Matchmaking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897850" y="2583537"/>
            <a:ext cx="5487233" cy="87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 to a Learning Compatibility Engine that suggests mentors based on past success, learning speed, and teaching style preferences, moving beyond simple proximity filters.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501473" y="3333274"/>
            <a:ext cx="557927" cy="22860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13" name="Shape 9"/>
          <p:cNvSpPr/>
          <p:nvPr/>
        </p:nvSpPr>
        <p:spPr>
          <a:xfrm>
            <a:off x="7105829" y="3135511"/>
            <a:ext cx="418505" cy="418505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4644" y="3184267"/>
            <a:ext cx="320754" cy="3207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45078" y="3193613"/>
            <a:ext cx="4268867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Augmented Reality (AR) Instruction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8245078" y="3632597"/>
            <a:ext cx="5487353" cy="87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AR-Handshakes allowing mentors to overlay digital annotations on physical objects in real-time, enhancing hands-on learning experiences during physical sessions.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570762" y="4258866"/>
            <a:ext cx="557927" cy="22860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18" name="Shape 13"/>
          <p:cNvSpPr/>
          <p:nvPr/>
        </p:nvSpPr>
        <p:spPr>
          <a:xfrm>
            <a:off x="7105829" y="4061103"/>
            <a:ext cx="418505" cy="418505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4644" y="4109859"/>
            <a:ext cx="320754" cy="3207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66449" y="4119205"/>
            <a:ext cx="4318635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Decentralized Blockchain Migration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897850" y="4558189"/>
            <a:ext cx="5487233" cy="87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Migrate the Trust Ledger to a public/consortium blockchain (e.g., Ethereum L2), enabling globally verifiable Skill Passports shareable directly with professional networks.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7501473" y="5184458"/>
            <a:ext cx="557927" cy="22860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23" name="Shape 17"/>
          <p:cNvSpPr/>
          <p:nvPr/>
        </p:nvSpPr>
        <p:spPr>
          <a:xfrm>
            <a:off x="7105829" y="4986695"/>
            <a:ext cx="418505" cy="418505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4644" y="5035451"/>
            <a:ext cx="320754" cy="32075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45078" y="5044797"/>
            <a:ext cx="4410194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Gamification &amp; Ecosystem Incentives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8245078" y="5483781"/>
            <a:ext cx="5487353" cy="879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a Mastery Hierarchy with digital badges, "Top Mentor" leaderboards, and a token-rebate system to reward consistent contributions in high-demand skill areas.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6570762" y="6110049"/>
            <a:ext cx="557927" cy="22860"/>
          </a:xfrm>
          <a:prstGeom prst="roundRect">
            <a:avLst>
              <a:gd name="adj" fmla="val 341749"/>
            </a:avLst>
          </a:prstGeom>
          <a:solidFill>
            <a:srgbClr val="FFE0CC"/>
          </a:solidFill>
          <a:ln/>
        </p:spPr>
      </p:sp>
      <p:sp>
        <p:nvSpPr>
          <p:cNvPr id="28" name="Shape 21"/>
          <p:cNvSpPr/>
          <p:nvPr/>
        </p:nvSpPr>
        <p:spPr>
          <a:xfrm>
            <a:off x="7105829" y="5912287"/>
            <a:ext cx="418505" cy="418505"/>
          </a:xfrm>
          <a:prstGeom prst="roundRect">
            <a:avLst>
              <a:gd name="adj" fmla="val 18667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4644" y="5961043"/>
            <a:ext cx="320754" cy="32075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994541" y="5970389"/>
            <a:ext cx="3390543" cy="347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Localized Language Support</a:t>
            </a:r>
            <a:endParaRPr lang="en-US" sz="2100" dirty="0"/>
          </a:p>
        </p:txBody>
      </p:sp>
      <p:sp>
        <p:nvSpPr>
          <p:cNvPr id="31" name="Text 23"/>
          <p:cNvSpPr/>
          <p:nvPr/>
        </p:nvSpPr>
        <p:spPr>
          <a:xfrm>
            <a:off x="897850" y="6409373"/>
            <a:ext cx="5487233" cy="65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Natural Language Processing (NLP) for real-time translation of skill descriptions and chat, fostering cross-cultural skill sharing in diverse linguistic regions.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38889"/>
            <a:ext cx="6385203" cy="829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77240" y="1903690"/>
            <a:ext cx="4213622" cy="3761899"/>
          </a:xfrm>
          <a:prstGeom prst="roundRect">
            <a:avLst>
              <a:gd name="adj" fmla="val 248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152" y="2148602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FF954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389" y="2331720"/>
            <a:ext cx="299799" cy="2997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152" y="3032284"/>
            <a:ext cx="3723799" cy="82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Bridging the Knowledge Gap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022152" y="3992523"/>
            <a:ext cx="3723799" cy="114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Radar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transforms local talent into a verifiable, decentralized economy, removing all discovery friction.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8270" y="1903690"/>
            <a:ext cx="4213741" cy="3761899"/>
          </a:xfrm>
          <a:prstGeom prst="roundRect">
            <a:avLst>
              <a:gd name="adj" fmla="val 248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3182" y="2148602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FF954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419" y="2331720"/>
            <a:ext cx="299799" cy="2997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3182" y="3032284"/>
            <a:ext cx="3723918" cy="82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Scalable &amp; Secure Architecture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5453182" y="3992523"/>
            <a:ext cx="3723918" cy="142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Leveraging a </a:t>
            </a: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Boot backend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SHA-256 Trust Ledger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ensures enterprise-grade scalability and professional security.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39419" y="1903690"/>
            <a:ext cx="4213741" cy="3761899"/>
          </a:xfrm>
          <a:prstGeom prst="roundRect">
            <a:avLst>
              <a:gd name="adj" fmla="val 248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4331" y="2148602"/>
            <a:ext cx="666274" cy="666274"/>
          </a:xfrm>
          <a:prstGeom prst="roundRect">
            <a:avLst>
              <a:gd name="adj" fmla="val 13722711"/>
            </a:avLst>
          </a:prstGeom>
          <a:solidFill>
            <a:srgbClr val="FF954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7568" y="2331720"/>
            <a:ext cx="299799" cy="2997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4331" y="3032284"/>
            <a:ext cx="3723918" cy="82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Social &amp; Educational Impact</a:t>
            </a:r>
            <a:endParaRPr lang="en-US" sz="2500" dirty="0"/>
          </a:p>
        </p:txBody>
      </p:sp>
      <p:sp>
        <p:nvSpPr>
          <p:cNvPr id="17" name="Text 12"/>
          <p:cNvSpPr/>
          <p:nvPr/>
        </p:nvSpPr>
        <p:spPr>
          <a:xfrm>
            <a:off x="9884331" y="3992523"/>
            <a:ext cx="3723918" cy="142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KnowsItAll lowers barriers to high-quality learning, fostering community growth as an accessible, software-driven alternative.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77240" y="5991701"/>
            <a:ext cx="3831074" cy="49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Final Thought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1110377" y="7060406"/>
            <a:ext cx="12742783" cy="28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"By digitizing trust and localizing discovery, KnowsItAll turns every community into a self-sustaining campus."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777240" y="6815852"/>
            <a:ext cx="30480" cy="77474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FFA47D-E121-BA0C-404C-D9C690538937}"/>
              </a:ext>
            </a:extLst>
          </p:cNvPr>
          <p:cNvSpPr/>
          <p:nvPr/>
        </p:nvSpPr>
        <p:spPr>
          <a:xfrm>
            <a:off x="12589727" y="7590592"/>
            <a:ext cx="2040673" cy="6390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987</Words>
  <Application>Microsoft Office PowerPoint</Application>
  <PresentationFormat>Custom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Marcellus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Kunal Gangani</cp:lastModifiedBy>
  <cp:revision>4</cp:revision>
  <dcterms:created xsi:type="dcterms:W3CDTF">2026-04-04T17:57:05Z</dcterms:created>
  <dcterms:modified xsi:type="dcterms:W3CDTF">2026-04-04T18:04:14Z</dcterms:modified>
</cp:coreProperties>
</file>